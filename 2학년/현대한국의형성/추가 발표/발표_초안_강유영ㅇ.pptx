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58" r:id="rId5"/>
    <p:sldId id="260" r:id="rId6"/>
    <p:sldId id="262" r:id="rId7"/>
    <p:sldId id="263" r:id="rId8"/>
    <p:sldId id="264" r:id="rId9"/>
    <p:sldId id="265" r:id="rId10"/>
    <p:sldId id="268" r:id="rId11"/>
    <p:sldId id="269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D0733-5E6F-9F49-B464-436212661ABE}" v="9" dt="2024-05-19T06:34:36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DB297-B682-7846-5DC2-718292E3C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029F95-5FFC-0FB2-DAA5-EBD405395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685BE-018F-4CF4-78F2-CC42453F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778D8-3D35-4EF3-98B2-4F0DACD1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46F0B-B572-1D7C-F04F-29FCCE2A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326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79F43-D321-F316-2035-42548F8C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D49DC-1DB0-A3AB-0188-51BB2B0DC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33B2DB-2FE3-9D17-8603-35B41C26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11043-67B6-5C0D-B731-257AE32F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B16BD-9510-89B2-99BF-74C9031B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267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FC18E-06BE-FC8A-0BD4-31D15036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E368B9-E769-C93E-3CBC-FF705AAF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3C6A8-EE44-342F-2BD9-1B682047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786354-AFB9-16F6-FC85-1F2A0803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D3812-9255-D3BB-1400-84E8B481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637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0EDCC-D986-51E4-D951-EBCB931C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19C91D-E1C3-E23B-DF7A-49F3C8781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D49C69-8274-F709-A5D8-25B0C71B9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175518-1069-23E7-B81F-612F8D45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C4B236-CC82-5D94-31DB-8E8A8DDB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5072D8-8D20-1BE3-C35B-06DCDD52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6248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39173-F6D4-8A6F-62F2-95E70D50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923A1D-B898-87E1-D09E-CF8996A9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C674C8-C336-A50F-3F59-2AC39094F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2916BF-FDE0-C107-59F5-A7A2FF495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E13C29-4973-8067-F708-E6C2C2999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260D63-19CE-C851-55CD-E20B6788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BA02F4-45DC-F75C-3887-BD781C93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5E2782-66AF-77F9-EFBA-FAC29D2B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480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71D9B-F63B-0AEE-D8C7-64C33BA4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F236F9-0D66-CBF2-BBAF-39CA1DD1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D4C381-FBB3-E152-44D1-54FD9D09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5F924C-6706-F6FA-BA01-D9E7A1A3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2551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07CBCF-3D7C-0EC4-C3E8-D2DDF9D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3F70D4-D9C7-3737-69E4-2EA316F3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DB831-969C-C2C1-283D-613B0D56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0209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9D901-DDFE-2CC5-17B5-423FCB1E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1FDAE-E040-C580-BE08-3BF51F0C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8CD30-2495-491D-8688-FE20687B8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0F0A02-7C91-D818-CEFD-7630BC3E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B83018-1F27-9E0C-059E-EBC8E5A7B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80267E-BB86-309D-4AD0-926B5B39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0173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6AAA0-51EE-32B3-1673-3D908EDF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332ADE-AACC-27A4-839D-BE503E493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AD487D-D30C-7012-9DBB-750E7AF3F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0402A5-FC6A-E414-98C4-53C45ABD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4387A0-F684-336E-A7B1-4EA3C455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BFD48-4019-711C-125B-8A042CD2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726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CB5A10-B652-A314-8922-6938B42B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8C8DA6-029A-6AF5-06E3-4992A8353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5E687-64D3-78E2-9DD3-99DCC9FE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1B7B82-A9F4-E56D-E04A-662FA8C2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6B8FD5-01AC-9E25-C2CA-0FCE497B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8591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2C7083-F306-6C2B-175A-D830321EF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37FD38-75C1-42F0-B0EA-7052C7140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F4569-5D62-D94D-63FC-C623C85D2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D38F5-5B66-0104-ACC0-693F5E91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2D5FFF-8DDF-1E3B-A0F0-4BC22090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287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76B2D2-51C4-A92A-A4C1-A5B19429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D48D4B-DBB9-7F03-E8D6-9AB872CD3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339BC-CF5C-83AD-8A20-57E7D39C6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C49CA-9111-F54D-842F-6B2A3B43BBDC}" type="datetimeFigureOut">
              <a:rPr kumimoji="1" lang="ko-Kore-KR" altLang="en-US" smtClean="0"/>
              <a:t>2024. 5. 19.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7E1FE0-E4DB-1023-D43A-6AC0FA07F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9B918-1300-D020-358B-992566A87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B4633-68F1-124E-AB78-95E3581327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2110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민주화란</a:t>
            </a:r>
            <a:r>
              <a:rPr kumimoji="1"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?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519222" y="1890915"/>
            <a:ext cx="111535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32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권위주의나 파시즘</a:t>
            </a:r>
            <a:r>
              <a:rPr lang="en-US" altLang="ko-KR" sz="32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Fascism)</a:t>
            </a:r>
            <a:r>
              <a:rPr lang="ko-KR" altLang="en-US" sz="32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과 같은 비민주적 상태로부터 또 다른 상태인 민주주의로 변화하는 과정</a:t>
            </a:r>
            <a:endParaRPr lang="en-US" altLang="ko-KR" sz="32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32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16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*</a:t>
            </a:r>
            <a:r>
              <a:rPr lang="ko-KR" altLang="en-US" sz="1600" dirty="0">
                <a:solidFill>
                  <a:srgbClr val="202124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파시즘</a:t>
            </a:r>
            <a:r>
              <a:rPr lang="en-US" altLang="ko-KR" sz="1600" dirty="0">
                <a:solidFill>
                  <a:srgbClr val="202124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(Fascism)</a:t>
            </a:r>
            <a:r>
              <a:rPr lang="ko-KR" altLang="en-US" sz="1600" dirty="0">
                <a:solidFill>
                  <a:srgbClr val="202124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en-US" altLang="ko-KR" sz="1600" dirty="0">
                <a:solidFill>
                  <a:srgbClr val="202124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:</a:t>
            </a:r>
            <a:r>
              <a:rPr lang="ko-KR" altLang="en-US" sz="1600" dirty="0">
                <a:solidFill>
                  <a:srgbClr val="202124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제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1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차 세계 대전 이후 유럽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특히 이탈리아와 독일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에서 나타난 대중 정치와 대중 동원에 기초하여 극단적인 민족주의를 주장하며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민주주의를 부정하고 독재 정치를 공공연히 주장하는 정치적 행동이자 체제</a:t>
            </a:r>
            <a:endParaRPr lang="ko-KR" altLang="en-US" sz="16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101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운동의 배경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519222" y="1890915"/>
            <a:ext cx="11153553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1945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년 해방 이후 </a:t>
            </a:r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3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년간의 미 </a:t>
            </a:r>
            <a:r>
              <a:rPr lang="ko-KR" altLang="en-US" sz="2500" dirty="0" err="1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군정기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끝에 제헌의회를 구성한다</a:t>
            </a:r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그러나 완전한 민주주의를 이루지는 못했다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endParaRPr lang="en-US" altLang="ko-KR" sz="25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25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남북의 분단</a:t>
            </a:r>
            <a:endParaRPr lang="en-US" altLang="ko-KR" sz="25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치열한 사상 투쟁</a:t>
            </a:r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이념 갈등</a:t>
            </a:r>
            <a:endParaRPr lang="en-US" altLang="ko-KR" sz="25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통일적인 국가 체제 성립 실패</a:t>
            </a:r>
            <a:endParaRPr lang="en-US" altLang="ko-KR" sz="25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한국전쟁</a:t>
            </a:r>
            <a:endParaRPr lang="en-US" altLang="ko-KR" sz="25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346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운동의 배경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519222" y="1890915"/>
            <a:ext cx="1115355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초기 대통령 이승만으로부터 시작해 박정희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 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전두환 등을 거치며 헌법 파괴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 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헌정질서의 무너짐이 반복되었고 헌법은 준수할 목표 보다는 개정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 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철폐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 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지탄의 대상으로 치부되었다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 </a:t>
            </a:r>
          </a:p>
          <a:p>
            <a:pPr algn="just"/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이 과정에서 민주화를 요구하는 움직임이 일어난다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30316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한국 민주화 운동의 특징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519222" y="1890915"/>
            <a:ext cx="1115355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상대적 비폭력성</a:t>
            </a:r>
            <a:endParaRPr lang="en-US" altLang="ko-KR" sz="25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25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25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대부분 독재 정권의 폭력에 대항하는 방어적인 대항 폭력의 형태를 가지고 있다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endParaRPr lang="en-US" altLang="ko-KR" sz="25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다른 나라들과는 달리 민주화운동이라는 이름 하에 테러나 게릴라전을 벌이지는 않는다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 </a:t>
            </a:r>
          </a:p>
          <a:p>
            <a:pPr algn="just"/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-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한국의 민주화운동이 극단적 선택을 한 경우는 분신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 </a:t>
            </a:r>
            <a:r>
              <a:rPr lang="ko-KR" altLang="en-US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투신과 같이 자기 자신에 대해 폭력을 행사하는 자기 폭력이었다</a:t>
            </a:r>
            <a:r>
              <a:rPr lang="en-US" altLang="ko-KR" sz="25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endParaRPr lang="en-US" altLang="ko-KR" sz="25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pPr algn="just"/>
            <a:endParaRPr lang="en-US" altLang="ko-KR" sz="25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292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천주교</a:t>
            </a:r>
            <a:r>
              <a:rPr kumimoji="1"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가톨릭</a:t>
            </a:r>
            <a:r>
              <a:rPr kumimoji="1"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란</a:t>
            </a:r>
            <a:r>
              <a:rPr kumimoji="1"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?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672448"/>
            <a:ext cx="1115355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천주교란 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ko-KR" altLang="en-US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예수 그리스도의 가르침을 하나 같이 따르는 사람들의 모임</a:t>
            </a:r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en-US" altLang="ko-KR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'</a:t>
            </a:r>
            <a:r>
              <a:rPr lang="ko-KR" altLang="en-US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보편적</a:t>
            </a:r>
            <a:r>
              <a:rPr lang="en-US" altLang="ko-KR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' '</a:t>
            </a:r>
            <a:r>
              <a:rPr lang="ko-KR" altLang="en-US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일반적</a:t>
            </a:r>
            <a:r>
              <a:rPr lang="en-US" altLang="ko-KR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' '</a:t>
            </a:r>
            <a:r>
              <a:rPr lang="ko-KR" altLang="en-US" sz="1900" dirty="0" err="1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공번된</a:t>
            </a:r>
            <a:r>
              <a:rPr lang="en-US" altLang="ko-KR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' </a:t>
            </a:r>
            <a:r>
              <a:rPr lang="ko-KR" altLang="en-US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이라는 뜻의 그리스어 </a:t>
            </a:r>
            <a:r>
              <a:rPr lang="en" altLang="ko-Kore-KR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katholikos</a:t>
            </a:r>
            <a:r>
              <a:rPr lang="ko-KR" altLang="en-US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에서 유래되었다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</a:p>
          <a:p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//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 이 밑부분은 발표 때 읽을 건 아니고 그냥 화면에 띄우기만 할거임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계통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 아브라함 계통 종교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유형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 일신론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창시자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 예수 그리스도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/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 시기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 기원 후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1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세기 경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</a:rPr>
              <a:t>중앙기관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교황청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/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수장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교황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1900" dirty="0" err="1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칠대죄악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교만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질투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분노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나태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탐욕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폭식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색욕 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endParaRPr lang="en-US" altLang="ko-KR" sz="19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1900" dirty="0" err="1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칠대주선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en-US" altLang="ko-KR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:</a:t>
            </a:r>
            <a:r>
              <a:rPr lang="ko-KR" altLang="en-US" sz="19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겸손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관용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인내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근면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박애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절제</a:t>
            </a:r>
            <a:r>
              <a:rPr lang="en-US" altLang="ko-KR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8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순결</a:t>
            </a:r>
            <a:br>
              <a:rPr lang="ko-KR" altLang="en-US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</a:br>
            <a:endParaRPr lang="ko-KR" altLang="en-US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en-US" altLang="ko-KR" sz="19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 </a:t>
            </a:r>
          </a:p>
        </p:txBody>
      </p:sp>
      <p:pic>
        <p:nvPicPr>
          <p:cNvPr id="1031" name="Picture 7" descr="가톨릭 프레스] ﻿천주교 전국 교구서 한반도 평화 기원 미사 봉헌﻿- 한국전쟁 70년, “용서와 평화로 무장해야”﻿ &gt; 보도자료 |  민족화해센터-참회와속죄의성당">
            <a:extLst>
              <a:ext uri="{FF2B5EF4-FFF2-40B4-BE49-F238E27FC236}">
                <a16:creationId xmlns:a16="http://schemas.microsoft.com/office/drawing/2014/main" id="{722903E3-9AEA-A2B1-69FE-A29E01732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504" y="3183976"/>
            <a:ext cx="3944679" cy="262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1D2DCB-1C5A-49EE-D26E-A2C6A57BE2A6}"/>
              </a:ext>
            </a:extLst>
          </p:cNvPr>
          <p:cNvSpPr txBox="1"/>
          <p:nvPr/>
        </p:nvSpPr>
        <p:spPr>
          <a:xfrm>
            <a:off x="7887584" y="5858209"/>
            <a:ext cx="4038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/>
              <a:t>사진</a:t>
            </a:r>
            <a:r>
              <a:rPr lang="ko-KR" altLang="en-US" dirty="0"/>
              <a:t> 출처 </a:t>
            </a:r>
            <a:r>
              <a:rPr lang="ko-Kore-KR" altLang="en-US" dirty="0"/>
              <a:t>http://www.pu2046.kr/bbs/board.php?bo_table=sub02_01&amp;wr_id=72</a:t>
            </a:r>
          </a:p>
        </p:txBody>
      </p:sp>
    </p:spTree>
    <p:extLst>
      <p:ext uri="{BB962C8B-B14F-4D97-AF65-F5344CB8AC3E}">
        <p14:creationId xmlns:p14="http://schemas.microsoft.com/office/powerpoint/2010/main" val="177819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광복 이후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672448"/>
            <a:ext cx="11153553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민족 해방과 완전한 종교의 자유는 천주교회에도 밝은 전망을 안겨주었다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 </a:t>
            </a:r>
          </a:p>
          <a:p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천주교는 총선거에 대비하여 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'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가톨릭 시국대책위원회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'</a:t>
            </a:r>
            <a:r>
              <a:rPr lang="ko-KR" altLang="en-US" sz="2000" dirty="0" err="1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를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조직하여 신자 청년들을 단합 시키는 한편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연합 교서를 통해 신자들에게 국가와 민족을 위해 기도와 희생을 바치도록 하였다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</a:t>
            </a:r>
            <a:b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</a:br>
            <a:endParaRPr lang="ko-KR" altLang="en-US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정부가 수립된 후에도 주교들은 조국의 통일을 위해 기도를 계속할 것과 공산주의에 순교 정신을 대항하도록 권고하였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다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또한 주교들은 반공 투쟁에 못지않게 국내의 사회부 조리의 제거가 조국 통일을 위한 전제조건임을 역설하였다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 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휴전의 시련 속에서도 발전을 멈추지 않았고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,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 휴전 이후 비약적 발전이 이루어졌다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 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(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신자 수 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16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만 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-&gt;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 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53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만명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)</a:t>
            </a:r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b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</a:br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640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1960</a:t>
            </a:r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년대 말 이전의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519222" y="1991425"/>
            <a:ext cx="11153553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정치적 보수성을 유지하면서 교회와 사회 간의 거리를 유지하는 경향을 보였다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</a:p>
          <a:p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‘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교회 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– 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국가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’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간의 창조적 긴장상태를 이루어 내지 못하였다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</a:t>
            </a:r>
            <a:b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</a:br>
            <a:endParaRPr lang="ko-KR" altLang="en-US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b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</a:br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053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1960</a:t>
            </a:r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년대 말 이후의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672448"/>
            <a:ext cx="1115355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“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현실 인식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”</a:t>
            </a: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pPr algn="just"/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국가 주도의 경제성장 우선 정책이 빚어내는 광범위한 사회 정치적 문제들에 대응하여야 할 책임감을 깨닫고 제 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2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차 바티칸 공의회의 사회적 교훈이 한국 천주교 회에 영향을 미치며 변화 시작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했다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</a:rPr>
              <a:t> </a:t>
            </a:r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pPr algn="just"/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 </a:t>
            </a:r>
          </a:p>
          <a:p>
            <a:pPr algn="just"/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한국 천주교는 사회문제에도 깊은 관심을 표명하는 종교로 부각되었고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,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천주교의 쇄신을 위한 노력을 지속하고 있다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.</a:t>
            </a:r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</a:rPr>
              <a:t>  </a:t>
            </a:r>
          </a:p>
          <a:p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716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운동과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1226287" y="2937722"/>
            <a:ext cx="973942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>
                <a:latin typeface="HCR Batang" panose="02030504000101010101" pitchFamily="18" charset="-127"/>
                <a:ea typeface="HCR Batang" panose="02030504000101010101" pitchFamily="18" charset="-127"/>
              </a:rPr>
              <a:t>사회참여         자유            인권</a:t>
            </a:r>
            <a:endParaRPr lang="en-US" altLang="ko-KR" sz="50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DBFE3-033D-48B6-1424-686A2C29C70C}"/>
              </a:ext>
            </a:extLst>
          </p:cNvPr>
          <p:cNvSpPr txBox="1"/>
          <p:nvPr/>
        </p:nvSpPr>
        <p:spPr>
          <a:xfrm>
            <a:off x="361506" y="5715112"/>
            <a:ext cx="11153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//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이러한 세가지 측면으로 바라볼 수 있습니다 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~~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느낌으로 발표 예정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 </a:t>
            </a:r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649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운동과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055758"/>
            <a:ext cx="11153553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사회참여</a:t>
            </a:r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“교회는 사적이고 공적인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국가적이고 국제적으로 정해진 인간 조건들에 대하여 교회의 가르침에 비추어 사회 현실을 분석하고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판단을 내리며 제기된 문제들의 올바른 해결을 위하여 취할 방향을 제시” </a:t>
            </a:r>
          </a:p>
          <a:p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교황청 정의평화평의회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간추린 사회교리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한국 천주교주교회의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,2013,521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항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</a:p>
          <a:p>
            <a:endParaRPr lang="en-US" altLang="ko-KR" sz="1200" dirty="0">
              <a:solidFill>
                <a:srgbClr val="000000"/>
              </a:solidFill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ko-KR" altLang="en-US" sz="12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“‘너희는 세상의 소금이다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.’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주께서 여러분에게 맡기신 이 말씀 전파의 직분은 여러분 자신을 위해서가 아니라 온 세상을 위해서라고 주께서 말씀하십니다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…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사실 이 세상 전체는 부패에 물들어 있습니다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주께서 또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"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너희는 세상의 소금이다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.＂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ko-KR" altLang="en-US" sz="2000" dirty="0" err="1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라</a:t>
            </a:r>
            <a:r>
              <a:rPr lang="ko-KR" altLang="en-US" sz="2000" dirty="0" err="1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고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말씀하실 때 온 인류는 제 맛을 잃고 죄로 부패되어 있다는 것을 보여주십니다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따라서 그분께서는 제자들에게 많은 사람들의 짐을 지어 주기 위해 유익하고 필요한 덕행들을 요구하십니다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온유하고 겸손 하며 자비롭고 의로운 사람은 이 덕행들을 자기를 위해서만 간직하지 않고 다른 모든 이들의 이익을 위하여 샘물처럼 흘려 내보냅니다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그리고 마음이 깨끗하고 화평을 이루며 진리를 위해 일하다가 박해 받는 사람은 공동선을 위 하여 자기 생명을 바칩니다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.”</a:t>
            </a:r>
            <a:endParaRPr lang="ko-KR" altLang="en-US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 err="1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마태오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복음에 대하여 강론한 요한 </a:t>
            </a:r>
            <a:r>
              <a:rPr lang="ko-KR" altLang="en-US" sz="1200" dirty="0" err="1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크리소스토모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endParaRPr lang="en-US" altLang="ko-KR" sz="12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8208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운동과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045127"/>
            <a:ext cx="1115355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자유</a:t>
            </a:r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en-US" altLang="ko-KR" sz="1800" b="1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567. </a:t>
            </a:r>
            <a:r>
              <a:rPr lang="ko-KR" altLang="en-US" sz="1800" b="1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평신도의 정치 참여 분야에서는</a:t>
            </a:r>
            <a:r>
              <a:rPr lang="en-US" altLang="ko-KR" sz="1800" b="1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 </a:t>
            </a:r>
            <a:r>
              <a:rPr lang="ko-KR" altLang="en-US" sz="1800" b="1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신자들이 특히 민주주의 법칙에 따라 국민에게 속한 권한 행사의 의무를 </a:t>
            </a:r>
            <a:r>
              <a:rPr lang="ko-KR" altLang="en-US" sz="1800" b="1" i="0" dirty="0" err="1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부여받을</a:t>
            </a:r>
            <a:r>
              <a:rPr lang="ko-KR" altLang="en-US" sz="1800" b="1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때 그들의 권한을 행사할 수 있도록 신자들을 준비시키는 데에 특별히 관심을 기울여야 한다</a:t>
            </a:r>
            <a:r>
              <a:rPr lang="en-US" altLang="ko-KR" sz="1800" b="1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 그들은 </a:t>
            </a:r>
            <a:r>
              <a:rPr lang="ko-KR" altLang="en-US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“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민주주의 제도가 국민들에게 정치적 결정에 참여할 중요한 권한을 부여하며</a:t>
            </a:r>
            <a:r>
              <a:rPr lang="en-US" altLang="ko-KR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 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피지배자들에게는 지배자들을 선택하거나 통제하거나 필요한 경우에는 평화적으로 대치할 수 있는 가능성을 보장해 주는 한</a:t>
            </a:r>
            <a:r>
              <a:rPr lang="ko-KR" altLang="en-US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” 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민주주의 제도에 대한 존중을 보여 주어야 한다</a:t>
            </a:r>
            <a:r>
              <a:rPr lang="en-US" altLang="ko-KR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 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신자들은 또한 합법적 제도들의 기능에 영향을 미치거나 이를 전복하려고 하는 모든 비밀 조직들을 거부하여야 한다</a:t>
            </a:r>
            <a:r>
              <a:rPr lang="en-US" altLang="ko-KR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 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권한의 행사는 언제나 봉사의 성격을 띠어야 하며</a:t>
            </a:r>
            <a:r>
              <a:rPr lang="en-US" altLang="ko-KR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 </a:t>
            </a:r>
            <a:r>
              <a:rPr lang="ko-KR" altLang="en-US" sz="1800" b="0" i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봉사는 공동선의 달성을 위하여 도덕률의 배경 안에서 이루어져야 한다</a:t>
            </a:r>
            <a:r>
              <a:rPr lang="en-US" altLang="ko-KR" sz="1800" b="0" i="0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 </a:t>
            </a:r>
            <a:r>
              <a:rPr lang="ko-KR" altLang="en-US" sz="1800" b="0" i="0" u="sng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정치적 권한을 행사하는 사람들은 권위적인 </a:t>
            </a:r>
            <a:r>
              <a:rPr lang="ko-KR" altLang="en-US" sz="1800" b="0" i="0" u="sng" dirty="0" err="1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방식으로가</a:t>
            </a:r>
            <a:r>
              <a:rPr lang="ko-KR" altLang="en-US" sz="1800" b="0" i="0" u="sng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아니라 자유 안에서 길러지는 도덕적 힘을 이용하여 전 국민의 힘이 공동선을 지향하도록 하여야 한다</a:t>
            </a:r>
            <a:r>
              <a:rPr lang="en-US" altLang="ko-KR" sz="1800" b="0" i="0" u="sng" spc="0" dirty="0">
                <a:solidFill>
                  <a:srgbClr val="282828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</a:p>
          <a:p>
            <a:r>
              <a:rPr lang="en-US" altLang="ko-KR" sz="1200" dirty="0">
                <a:solidFill>
                  <a:srgbClr val="282828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>
                <a:solidFill>
                  <a:srgbClr val="1E1E1E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간추린 사회교리 </a:t>
            </a:r>
            <a:r>
              <a:rPr lang="en-US" altLang="ko-KR" sz="1200" dirty="0">
                <a:solidFill>
                  <a:srgbClr val="1E1E1E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567</a:t>
            </a:r>
            <a:r>
              <a:rPr lang="ko-KR" altLang="en-US" sz="1200" dirty="0">
                <a:solidFill>
                  <a:srgbClr val="1E1E1E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항</a:t>
            </a:r>
            <a:r>
              <a:rPr lang="en-US" altLang="ko-KR" sz="1200" dirty="0">
                <a:solidFill>
                  <a:srgbClr val="1E1E1E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endParaRPr lang="en-US" altLang="ko-KR" sz="1200" dirty="0">
              <a:solidFill>
                <a:srgbClr val="282828"/>
              </a:solidFill>
              <a:highlight>
                <a:srgbClr val="FFFFFF"/>
              </a:highlight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en-US" altLang="ko-KR" sz="20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//</a:t>
            </a:r>
            <a:r>
              <a:rPr lang="ko-KR" altLang="en-US" sz="20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밑줄 부분만 </a:t>
            </a:r>
            <a:r>
              <a:rPr lang="ko-KR" altLang="en-US" sz="2000" dirty="0" err="1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읽을거라</a:t>
            </a:r>
            <a:r>
              <a:rPr lang="ko-KR" altLang="en-US" sz="20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그 부분 매우 강조 부탁</a:t>
            </a:r>
            <a:endParaRPr lang="en-US" altLang="ko-KR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815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운동과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045127"/>
            <a:ext cx="1115355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자유</a:t>
            </a:r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ko-KR" altLang="en-US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공공생활 안에서의 인권 보장을 위한 사회 제도적 장치의 마련을 통해 집회의 자유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결사의 자유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언론의 자유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종교 자유 등이 특별히 보장되어야 한다고 말한다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사목헌장</a:t>
            </a:r>
            <a:r>
              <a:rPr lang="en-US" altLang="ko-KR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endParaRPr lang="en-US" altLang="ko-KR" sz="12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ko-KR" altLang="en-US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1E1E1E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정치적 권한을 행사하는 사람들은 권위적인 방식이 아닌 자유 안에서 길러지는 도덕적 힘을 이용하여 전 국민의 힘이 공동선을 지향하도록 하여야 한다</a:t>
            </a:r>
            <a:r>
              <a:rPr lang="en-US" altLang="ko-KR" sz="2000" dirty="0">
                <a:solidFill>
                  <a:srgbClr val="1E1E1E"/>
                </a:solidFill>
                <a:effectLst/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</a:p>
          <a:p>
            <a:r>
              <a:rPr lang="en-US" altLang="ko-KR" sz="1200" dirty="0">
                <a:solidFill>
                  <a:srgbClr val="1E1E1E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>
                <a:solidFill>
                  <a:srgbClr val="1E1E1E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사목헌장 </a:t>
            </a:r>
            <a:r>
              <a:rPr lang="en-US" altLang="ko-KR" sz="1200" dirty="0">
                <a:solidFill>
                  <a:srgbClr val="1E1E1E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73</a:t>
            </a:r>
            <a:r>
              <a:rPr lang="ko-KR" altLang="en-US" sz="1200" dirty="0">
                <a:solidFill>
                  <a:srgbClr val="1E1E1E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항</a:t>
            </a:r>
            <a:r>
              <a:rPr lang="en-US" altLang="ko-KR" sz="1200" dirty="0">
                <a:solidFill>
                  <a:srgbClr val="1E1E1E"/>
                </a:solidFill>
                <a:highlight>
                  <a:srgbClr val="FFFFFF"/>
                </a:highlight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endParaRPr lang="ko-KR" altLang="en-US" sz="1200" dirty="0">
              <a:solidFill>
                <a:srgbClr val="1E1E1E"/>
              </a:solidFill>
              <a:effectLst/>
              <a:highlight>
                <a:srgbClr val="FFFFFF"/>
              </a:highlight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7946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운동과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361506" y="1672448"/>
            <a:ext cx="1115355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인권</a:t>
            </a:r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이처럼 모든 인간은 고유한 존엄성에 따라 자유롭게 행동하고자 한다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왜냐하면 인간은 사회생활에서 권리를 행사하고 의무들을 수행하며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여러 형태의 일들을 개인의 결정에 따라서 처리해야 하기 때문이다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곧 확신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자기의 주도권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책임감을 갖고 행동해야 하며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무엇보다 먼저 외부의 압력이나 강압에 의해 행동해서는 안 된다는 것이다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endParaRPr lang="ko-KR" altLang="en-US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지상의 평화</a:t>
            </a:r>
            <a:r>
              <a:rPr lang="ko-KR" altLang="en-US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en" altLang="ko-Kore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PACEM IN TERRIS,1963 34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항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endParaRPr lang="ko-KR" altLang="en-US" sz="12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“인간은 교회가 따라 걸어야 하는 일차적이고 근본적인 길”</a:t>
            </a:r>
            <a:endParaRPr lang="en-US" altLang="ko-KR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“어느 면에서 교회가 따라 걸어야 하는 다른 모든 길의 바탕이 되는 길”</a:t>
            </a:r>
          </a:p>
          <a:p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“교회는 인간에 대한 위협들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인간의 생활을 더욱 인간 답게 만들고 현세 생활의 모든 요소를 인간의 진정한 존엄성에 </a:t>
            </a:r>
            <a:r>
              <a:rPr lang="ko-KR" altLang="en-US" sz="2000" dirty="0" err="1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맞갖게</a:t>
            </a:r>
            <a:r>
              <a:rPr lang="ko-KR" altLang="en-US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만들려는 노력에 상반되어 보이는 모든 것을 감지해야 한다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.”</a:t>
            </a:r>
            <a:endParaRPr lang="ko-KR" altLang="en-US" sz="20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인간의 구원자</a:t>
            </a:r>
            <a:r>
              <a:rPr lang="ko-KR" altLang="en-US" sz="1200" dirty="0">
                <a:solidFill>
                  <a:srgbClr val="000000"/>
                </a:solidFill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</a:t>
            </a:r>
            <a:r>
              <a:rPr lang="en" altLang="ko-Kore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REDEMPTORHOMINIS,1979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)</a:t>
            </a:r>
            <a:endParaRPr lang="en" altLang="ko-Kore-KR" sz="1200" dirty="0">
              <a:solidFill>
                <a:srgbClr val="000000"/>
              </a:solidFill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20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69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09715-554D-136B-963A-81C7B7538E46}"/>
              </a:ext>
            </a:extLst>
          </p:cNvPr>
          <p:cNvSpPr txBox="1"/>
          <p:nvPr/>
        </p:nvSpPr>
        <p:spPr>
          <a:xfrm>
            <a:off x="361506" y="329609"/>
            <a:ext cx="5734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민주화 운동과 천주교</a:t>
            </a:r>
            <a:endParaRPr kumimoji="1" lang="ko-Kore-KR" altLang="en-US" sz="3200" dirty="0"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822DF-8901-EC2D-297D-1BC37CC896C6}"/>
              </a:ext>
            </a:extLst>
          </p:cNvPr>
          <p:cNvSpPr txBox="1"/>
          <p:nvPr/>
        </p:nvSpPr>
        <p:spPr>
          <a:xfrm>
            <a:off x="1226287" y="2937722"/>
            <a:ext cx="973942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dirty="0">
                <a:latin typeface="HCR Batang" panose="02030504000101010101" pitchFamily="18" charset="-127"/>
                <a:ea typeface="HCR Batang" panose="02030504000101010101" pitchFamily="18" charset="-127"/>
              </a:rPr>
              <a:t>사회참여         자유            인권</a:t>
            </a:r>
            <a:endParaRPr lang="en-US" altLang="ko-KR" sz="5000" dirty="0">
              <a:latin typeface="HCR Batang" panose="02030504000101010101" pitchFamily="18" charset="-127"/>
              <a:ea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DBFE3-033D-48B6-1424-686A2C29C70C}"/>
              </a:ext>
            </a:extLst>
          </p:cNvPr>
          <p:cNvSpPr txBox="1"/>
          <p:nvPr/>
        </p:nvSpPr>
        <p:spPr>
          <a:xfrm>
            <a:off x="361506" y="5715112"/>
            <a:ext cx="11153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//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이러한 세가지 측면으로 바라볼 수 있습니다 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~~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느낌으로 발표 예정</a:t>
            </a:r>
            <a:r>
              <a:rPr lang="en-US" altLang="ko-KR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</a:t>
            </a:r>
            <a:r>
              <a:rPr lang="ko-KR" altLang="en-US" sz="2000" dirty="0"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  </a:t>
            </a:r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AA1AA-5EB5-36AE-015F-00C1BDC55A02}"/>
              </a:ext>
            </a:extLst>
          </p:cNvPr>
          <p:cNvSpPr txBox="1"/>
          <p:nvPr/>
        </p:nvSpPr>
        <p:spPr>
          <a:xfrm>
            <a:off x="1562984" y="4211000"/>
            <a:ext cx="906602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천주교의 사상과 맞지 않는 당시 사회에 맞서기 위해 민주화 운동에 참여하였다</a:t>
            </a:r>
            <a:r>
              <a:rPr lang="en-US" altLang="ko-KR" sz="2000" dirty="0">
                <a:effectLst/>
                <a:latin typeface="HCR Batang" panose="02030504000101010101" pitchFamily="18" charset="-127"/>
                <a:ea typeface="HCR Batang" panose="02030504000101010101" pitchFamily="18" charset="-127"/>
                <a:cs typeface="HCR Batang" panose="02030504000101010101" pitchFamily="18" charset="-127"/>
              </a:rPr>
              <a:t>. </a:t>
            </a:r>
            <a:endParaRPr lang="ko-KR" altLang="en-US" sz="20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  <a:p>
            <a:endParaRPr lang="en-US" altLang="ko-KR" sz="1900" dirty="0">
              <a:effectLst/>
              <a:latin typeface="HCR Batang" panose="02030504000101010101" pitchFamily="18" charset="-127"/>
              <a:ea typeface="HCR Batang" panose="02030504000101010101" pitchFamily="18" charset="-127"/>
              <a:cs typeface="HCR Batang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13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1022</Words>
  <Application>Microsoft Macintosh PowerPoint</Application>
  <PresentationFormat>와이드스크린</PresentationFormat>
  <Paragraphs>103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HCR Batang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강유영</dc:creator>
  <cp:lastModifiedBy>강유영</cp:lastModifiedBy>
  <cp:revision>3</cp:revision>
  <dcterms:created xsi:type="dcterms:W3CDTF">2024-05-19T04:34:17Z</dcterms:created>
  <dcterms:modified xsi:type="dcterms:W3CDTF">2024-05-19T06:39:18Z</dcterms:modified>
</cp:coreProperties>
</file>