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63" r:id="rId1"/>
  </p:sldMasterIdLst>
  <p:sldIdLst>
    <p:sldId id="256" r:id="rId2"/>
    <p:sldId id="257" r:id="rId3"/>
    <p:sldId id="258" r:id="rId4"/>
    <p:sldId id="267" r:id="rId5"/>
    <p:sldId id="265" r:id="rId6"/>
    <p:sldId id="259" r:id="rId7"/>
    <p:sldId id="266" r:id="rId8"/>
    <p:sldId id="261" r:id="rId9"/>
    <p:sldId id="262" r:id="rId10"/>
    <p:sldId id="264" r:id="rId11"/>
    <p:sldId id="263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378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479"/>
    <p:restoredTop sz="94719"/>
  </p:normalViewPr>
  <p:slideViewPr>
    <p:cSldViewPr snapToGrid="0">
      <p:cViewPr>
        <p:scale>
          <a:sx n="40" d="100"/>
          <a:sy n="40" d="100"/>
        </p:scale>
        <p:origin x="768" y="19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36B5B-2067-E1D3-DB6D-CF8510A37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953037-F52C-EC01-F447-CD8A3B73BD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932C76-0BD4-8BFA-09A4-BD7080E11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340A-7013-6C4F-BABA-6B218A3473B5}" type="datetimeFigureOut">
              <a:rPr kumimoji="1" lang="ko-KR" altLang="en-US" smtClean="0"/>
              <a:t>2024. 11. 14.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90C447-CBF7-E09A-4C4D-280EC942F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8C44D6D-A40F-B16A-F143-E7FD1F2C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F77-EF61-A041-A920-C169B9F8B8B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8871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93D8E4-73C7-21EC-E3EB-5447B6E9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64B567-A762-0B91-DE64-D7A368BE97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6C49DF-1EF8-375B-443B-5F14A3D24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340A-7013-6C4F-BABA-6B218A3473B5}" type="datetimeFigureOut">
              <a:rPr kumimoji="1" lang="ko-KR" altLang="en-US" smtClean="0"/>
              <a:t>2024. 11. 14.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D92D6A-143D-3241-6B86-2DA794868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D75E5B-0080-F481-3C1B-3A808F6E8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F77-EF61-A041-A920-C169B9F8B8B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569820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93538D-883D-4B19-0594-BB15E05E0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FD7432-0D5C-3DF3-05CD-FFC943DF0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E7D01C-15CE-F0EA-C9F7-C9B4A6AD9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340A-7013-6C4F-BABA-6B218A3473B5}" type="datetimeFigureOut">
              <a:rPr kumimoji="1" lang="ko-KR" altLang="en-US" smtClean="0"/>
              <a:t>2024. 11. 14.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487DF5A-84C7-B4FE-A0F5-98EAA1006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4A1A98-8CA0-F82B-C010-7100E9A9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F77-EF61-A041-A920-C169B9F8B8B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8792238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E940C-F626-F9D3-3A3C-09AEA65B9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D116B2-41E1-2384-1CD8-A01F8F032C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E6A0A4-609C-7925-DCE8-55BCB6F7F6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567617D-9FDB-87E9-9521-E0847C059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340A-7013-6C4F-BABA-6B218A3473B5}" type="datetimeFigureOut">
              <a:rPr kumimoji="1" lang="ko-KR" altLang="en-US" smtClean="0"/>
              <a:t>2024. 11. 14.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DEC531-A5CE-490F-DC8D-EF26C983B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E137BA-57C8-4C46-27A0-27C696E92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F77-EF61-A041-A920-C169B9F8B8B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003646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378F42-053C-3C12-A0DF-362A67AE0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F4E9A9-98A6-5E31-C967-724285F88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BD53E5C-C684-5849-516F-5DB718052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617D6F9-044E-99E8-2B19-9259E370E0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A9714C-5486-2578-5F2B-0C9DB87EC6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DC4D883-3235-B6C0-313F-C75BFCD45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340A-7013-6C4F-BABA-6B218A3473B5}" type="datetimeFigureOut">
              <a:rPr kumimoji="1" lang="ko-KR" altLang="en-US" smtClean="0"/>
              <a:t>2024. 11. 14.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01D21C-0C26-AC50-8778-A88A7C68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3EB5CEB-4ECE-FE72-E5B2-3FC6D2E8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F77-EF61-A041-A920-C169B9F8B8B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28299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48A885-9C46-E894-84A5-684B2DFF5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9C99DF9-9B71-0CAF-F199-5CCACEFC8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340A-7013-6C4F-BABA-6B218A3473B5}" type="datetimeFigureOut">
              <a:rPr kumimoji="1" lang="ko-KR" altLang="en-US" smtClean="0"/>
              <a:t>2024. 11. 14.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36075B-51ED-FAF5-64D2-B66F3EEED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F236D8-139A-3B47-ABC8-3257A7F3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F77-EF61-A041-A920-C169B9F8B8B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53502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449E847-00D4-B93E-DA26-CC7F120E8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340A-7013-6C4F-BABA-6B218A3473B5}" type="datetimeFigureOut">
              <a:rPr kumimoji="1" lang="ko-KR" altLang="en-US" smtClean="0"/>
              <a:t>2024. 11. 14.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8FBD4CE-5403-C6D6-BB09-171966AB4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299D29-86FF-F3B9-006F-0CC3F0778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F77-EF61-A041-A920-C169B9F8B8B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8310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6D6DF2-2147-B90C-E95C-58A5BCE3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ED20769-004C-3430-17EF-32E4655AC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3A6E055-96FE-CA8A-1E1F-CAA8C36A7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E30F925-0C18-9E60-8C89-00F62CFA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340A-7013-6C4F-BABA-6B218A3473B5}" type="datetimeFigureOut">
              <a:rPr kumimoji="1" lang="ko-KR" altLang="en-US" smtClean="0"/>
              <a:t>2024. 11. 14.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06487A-0B05-BD57-5E6C-F5FDBDEE5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C547D7-C482-9FF4-9AD4-C48975034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F77-EF61-A041-A920-C169B9F8B8B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2809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3B02AD-37C0-36C0-347C-012F02B7B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C2890CA-258C-E6E4-D4C6-B8157DA18B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5E5536B-915A-22A2-79FD-A4B095C5EA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4A7AD6A-3462-43D1-C542-703F08DDB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340A-7013-6C4F-BABA-6B218A3473B5}" type="datetimeFigureOut">
              <a:rPr kumimoji="1" lang="ko-KR" altLang="en-US" smtClean="0"/>
              <a:t>2024. 11. 14.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6BE18F-01EC-1EF2-D844-90222267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C30460-6118-0C6B-B383-DAABEC6B2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F77-EF61-A041-A920-C169B9F8B8B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6719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47E2E8-0422-DA3A-B730-06696B08F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683A0D1-41BA-9A08-C9FE-384285698F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228A22-6C36-37F1-1667-C662B11A6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340A-7013-6C4F-BABA-6B218A3473B5}" type="datetimeFigureOut">
              <a:rPr kumimoji="1" lang="ko-KR" altLang="en-US" smtClean="0"/>
              <a:t>2024. 11. 14.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9B8E12-486C-E560-0D34-84F45B7AF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7CDA2D-8692-D7FA-0867-885410F1B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F77-EF61-A041-A920-C169B9F8B8B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17369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04207DF-3E15-271F-D690-C17AFBA0C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BB47F91-DBAB-F885-B736-DBAC9E3371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BEF038-164B-CCCD-C1DF-377DBD645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DE340A-7013-6C4F-BABA-6B218A3473B5}" type="datetimeFigureOut">
              <a:rPr kumimoji="1" lang="ko-KR" altLang="en-US" smtClean="0"/>
              <a:t>2024. 11. 14.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0E19D50-2312-5791-DD47-5EBD6301C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0D99691-D5A6-A454-D266-D727D6ABE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F4F77-EF61-A041-A920-C169B9F8B8B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914670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7B3D62A-F8E7-CC69-8CA2-5859C955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CAD3DF3-B041-3C6F-B87A-076427358A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FC7A92-6E89-4156-2084-FDEC327EC3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DE340A-7013-6C4F-BABA-6B218A3473B5}" type="datetimeFigureOut">
              <a:rPr kumimoji="1" lang="ko-KR" altLang="en-US" smtClean="0"/>
              <a:t>2024. 11. 14.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A854C5-2977-834C-DFEB-A4FF8DA432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0764B2-5D74-6A60-BFA4-F018B5287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DF4F77-EF61-A041-A920-C169B9F8B8B6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314422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4" r:id="rId1"/>
    <p:sldLayoutId id="2147483865" r:id="rId2"/>
    <p:sldLayoutId id="2147483866" r:id="rId3"/>
    <p:sldLayoutId id="2147483867" r:id="rId4"/>
    <p:sldLayoutId id="2147483868" r:id="rId5"/>
    <p:sldLayoutId id="2147483869" r:id="rId6"/>
    <p:sldLayoutId id="2147483870" r:id="rId7"/>
    <p:sldLayoutId id="2147483871" r:id="rId8"/>
    <p:sldLayoutId id="2147483872" r:id="rId9"/>
    <p:sldLayoutId id="2147483873" r:id="rId10"/>
    <p:sldLayoutId id="2147483874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0468CE-3D2D-A2E7-D990-73DE0CACDCC1}"/>
              </a:ext>
            </a:extLst>
          </p:cNvPr>
          <p:cNvSpPr txBox="1"/>
          <p:nvPr/>
        </p:nvSpPr>
        <p:spPr>
          <a:xfrm>
            <a:off x="5472113" y="1057275"/>
            <a:ext cx="48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컴퓨터공학실험</a:t>
            </a:r>
            <a:r>
              <a:rPr kumimoji="1" lang="en-US" altLang="ko-KR" dirty="0"/>
              <a:t>2</a:t>
            </a:r>
            <a:r>
              <a:rPr kumimoji="1" lang="ko-KR" altLang="en-US" dirty="0"/>
              <a:t> </a:t>
            </a:r>
            <a:r>
              <a:rPr kumimoji="1" lang="en-US" altLang="ko-KR" dirty="0"/>
              <a:t>11</a:t>
            </a:r>
            <a:r>
              <a:rPr kumimoji="1" lang="ko-KR" altLang="en-US" dirty="0"/>
              <a:t>주차 발표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E99240-046D-F878-851B-556D293FFB28}"/>
              </a:ext>
            </a:extLst>
          </p:cNvPr>
          <p:cNvSpPr txBox="1"/>
          <p:nvPr/>
        </p:nvSpPr>
        <p:spPr>
          <a:xfrm>
            <a:off x="5653088" y="2466975"/>
            <a:ext cx="48434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20231508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강유영</a:t>
            </a:r>
            <a:endParaRPr kumimoji="1" lang="en-US" altLang="ko-KR" dirty="0"/>
          </a:p>
          <a:p>
            <a:r>
              <a:rPr kumimoji="1" lang="ko-KR" altLang="en-US" dirty="0"/>
              <a:t>박지민</a:t>
            </a:r>
            <a:endParaRPr kumimoji="1" lang="en-US" altLang="ko-KR" dirty="0"/>
          </a:p>
          <a:p>
            <a:r>
              <a:rPr kumimoji="1" lang="ko-KR" altLang="en-US" dirty="0"/>
              <a:t>정희선</a:t>
            </a:r>
          </a:p>
        </p:txBody>
      </p:sp>
    </p:spTree>
    <p:extLst>
      <p:ext uri="{BB962C8B-B14F-4D97-AF65-F5344CB8AC3E}">
        <p14:creationId xmlns:p14="http://schemas.microsoft.com/office/powerpoint/2010/main" val="1958806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F7075E-9997-F288-9043-0CE6DE7AAD77}"/>
              </a:ext>
            </a:extLst>
          </p:cNvPr>
          <p:cNvSpPr txBox="1"/>
          <p:nvPr/>
        </p:nvSpPr>
        <p:spPr>
          <a:xfrm>
            <a:off x="5472113" y="1057275"/>
            <a:ext cx="4843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dirty="0"/>
              <a:t>목차</a:t>
            </a:r>
            <a:endParaRPr kumimoji="1"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79068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66032E6-F9B2-C58D-E8D8-EC82E85C9E04}"/>
              </a:ext>
            </a:extLst>
          </p:cNvPr>
          <p:cNvSpPr txBox="1"/>
          <p:nvPr/>
        </p:nvSpPr>
        <p:spPr>
          <a:xfrm>
            <a:off x="2157413" y="1385887"/>
            <a:ext cx="900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Latch</a:t>
            </a:r>
            <a:endParaRPr kumimoji="1"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24647-4524-5503-7D2C-0BD0017020C2}"/>
              </a:ext>
            </a:extLst>
          </p:cNvPr>
          <p:cNvSpPr txBox="1"/>
          <p:nvPr/>
        </p:nvSpPr>
        <p:spPr>
          <a:xfrm>
            <a:off x="7996237" y="1385887"/>
            <a:ext cx="24336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 err="1"/>
              <a:t>FlipFlop</a:t>
            </a:r>
            <a:endParaRPr kumimoji="1"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F5EFEF-FFEF-7955-B2B1-70D024936752}"/>
              </a:ext>
            </a:extLst>
          </p:cNvPr>
          <p:cNvSpPr txBox="1"/>
          <p:nvPr/>
        </p:nvSpPr>
        <p:spPr>
          <a:xfrm>
            <a:off x="1476375" y="2381249"/>
            <a:ext cx="41588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입력이 변할 때마다 출력이 즉시 변화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비동기적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간단한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데이터를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저장하는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데에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사용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DC2F19-E6A0-D0A7-43E1-38E5FAFD849E}"/>
              </a:ext>
            </a:extLst>
          </p:cNvPr>
          <p:cNvSpPr txBox="1"/>
          <p:nvPr/>
        </p:nvSpPr>
        <p:spPr>
          <a:xfrm>
            <a:off x="5845249" y="2228671"/>
            <a:ext cx="60977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입력 값이 변해도 </a:t>
            </a: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Clock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신호에 의해 출력이 결정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동기적</a:t>
            </a:r>
            <a:endParaRPr lang="ko-KR" altLang="en-US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컴퓨터가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규칙적으로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데이터를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처리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정교하게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타이밍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제어가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필요한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경우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사용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AAC9A2-859C-2EBD-F48F-C6D8F190ED10}"/>
              </a:ext>
            </a:extLst>
          </p:cNvPr>
          <p:cNvSpPr txBox="1"/>
          <p:nvPr/>
        </p:nvSpPr>
        <p:spPr>
          <a:xfrm>
            <a:off x="5845249" y="4105018"/>
            <a:ext cx="609777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FlipFlop</a:t>
            </a: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Edge</a:t>
            </a:r>
          </a:p>
          <a:p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-Trailing-edge triggered(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하강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 err="1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엣지</a:t>
            </a:r>
            <a:r>
              <a:rPr lang="en-US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) : 1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에서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0</a:t>
            </a:r>
            <a:r>
              <a:rPr lang="ko-KR" altLang="en-US" dirty="0" err="1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으로의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변화</a:t>
            </a:r>
            <a:endParaRPr lang="ko-KR" altLang="en-US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r>
              <a:rPr lang="en-US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-</a:t>
            </a: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Leading-edge triggered(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상승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 err="1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엣지</a:t>
            </a:r>
            <a:r>
              <a:rPr lang="en-US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) : 0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에서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-US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1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로의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변화</a:t>
            </a:r>
            <a:endParaRPr lang="ko-KR" altLang="en-US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11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EA3BF6-CCC1-E26A-B68E-1C2DB8FCB2AE}"/>
              </a:ext>
            </a:extLst>
          </p:cNvPr>
          <p:cNvSpPr txBox="1"/>
          <p:nvPr/>
        </p:nvSpPr>
        <p:spPr>
          <a:xfrm>
            <a:off x="2055743" y="2228671"/>
            <a:ext cx="46631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-</a:t>
            </a:r>
            <a:r>
              <a:rPr lang="ko-KR" altLang="en-US" dirty="0"/>
              <a:t>제어 신호</a:t>
            </a:r>
            <a:r>
              <a:rPr lang="en-US" altLang="ko-KR" dirty="0"/>
              <a:t>(</a:t>
            </a:r>
            <a:r>
              <a:rPr lang="en" altLang="ko-KR" dirty="0"/>
              <a:t>Enable)</a:t>
            </a:r>
            <a:r>
              <a:rPr lang="ko-KR" altLang="en-US" dirty="0"/>
              <a:t>가 추가된 </a:t>
            </a:r>
            <a:r>
              <a:rPr lang="en-US" altLang="ko-KR" dirty="0"/>
              <a:t>Latch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입력 신호가 출력에 반영되는 시기를 조절</a:t>
            </a:r>
            <a:endParaRPr lang="en-US" altLang="ko-KR" dirty="0"/>
          </a:p>
          <a:p>
            <a:r>
              <a:rPr lang="en-US" altLang="ko-KR" dirty="0"/>
              <a:t>-</a:t>
            </a:r>
            <a:r>
              <a:rPr lang="ko-KR" altLang="en-US" dirty="0"/>
              <a:t>일반적인 </a:t>
            </a:r>
            <a:r>
              <a:rPr lang="ko-KR" altLang="en-US" dirty="0" err="1"/>
              <a:t>래치는</a:t>
            </a:r>
            <a:r>
              <a:rPr lang="ko-KR" altLang="en-US" dirty="0"/>
              <a:t> 입력이 변하면 즉시 출력에 반영되지만</a:t>
            </a:r>
            <a:r>
              <a:rPr lang="en-US" altLang="ko-KR" dirty="0"/>
              <a:t>, </a:t>
            </a:r>
            <a:r>
              <a:rPr lang="ko-KR" altLang="en-US" dirty="0"/>
              <a:t>게이트 </a:t>
            </a:r>
            <a:r>
              <a:rPr lang="ko-KR" altLang="en-US" dirty="0" err="1"/>
              <a:t>래치는</a:t>
            </a:r>
            <a:r>
              <a:rPr lang="ko-KR" altLang="en-US" dirty="0"/>
              <a:t> </a:t>
            </a:r>
            <a:r>
              <a:rPr lang="en" altLang="ko-KR" b="1" dirty="0"/>
              <a:t>Enable </a:t>
            </a:r>
            <a:r>
              <a:rPr lang="ko-KR" altLang="en-US" b="1" dirty="0"/>
              <a:t>신호가 활성화</a:t>
            </a:r>
            <a:r>
              <a:rPr lang="en-US" altLang="ko-KR" b="1" dirty="0"/>
              <a:t>(1)</a:t>
            </a:r>
            <a:r>
              <a:rPr lang="ko-KR" altLang="en-US" dirty="0"/>
              <a:t> 될 때에만 입력에 반응하여 출력을 변경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-</a:t>
            </a:r>
            <a:r>
              <a:rPr lang="ko-KR" altLang="en-US" dirty="0"/>
              <a:t>입력신호는 종종 </a:t>
            </a:r>
            <a:r>
              <a:rPr lang="en-US" altLang="ko-KR" dirty="0"/>
              <a:t>Clock</a:t>
            </a:r>
            <a:r>
              <a:rPr lang="ko-KR" altLang="en-US" dirty="0"/>
              <a:t>신호로 사용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230711-2452-5B32-4906-FF2A4EABFE7A}"/>
              </a:ext>
            </a:extLst>
          </p:cNvPr>
          <p:cNvSpPr txBox="1"/>
          <p:nvPr/>
        </p:nvSpPr>
        <p:spPr>
          <a:xfrm>
            <a:off x="2727257" y="1141861"/>
            <a:ext cx="22820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Gate Latch</a:t>
            </a:r>
          </a:p>
          <a:p>
            <a:endParaRPr kumimoji="1"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6C9DA27-6392-2B4B-117F-0896ED0AD9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7348" y="2094556"/>
            <a:ext cx="4663110" cy="266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189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7551DD-399B-D707-D03D-C65D1AF4A5D1}"/>
              </a:ext>
            </a:extLst>
          </p:cNvPr>
          <p:cNvSpPr txBox="1"/>
          <p:nvPr/>
        </p:nvSpPr>
        <p:spPr>
          <a:xfrm>
            <a:off x="1925995" y="2166443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Reset :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데이터를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‘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끄는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’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상태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Set :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데이터를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‘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켜는</a:t>
            </a:r>
            <a:r>
              <a:rPr lang="en-US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'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상태</a:t>
            </a:r>
            <a:endParaRPr lang="ko-KR" altLang="en-US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9FAC2-5E9F-80AA-CE56-B7BC219FD6A8}"/>
              </a:ext>
            </a:extLst>
          </p:cNvPr>
          <p:cNvSpPr txBox="1"/>
          <p:nvPr/>
        </p:nvSpPr>
        <p:spPr>
          <a:xfrm>
            <a:off x="1568187" y="649069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000000"/>
                </a:solidFill>
                <a:latin typeface="Helvetica Neue" panose="02000503000000020004" pitchFamily="2" charset="0"/>
              </a:rPr>
              <a:t>RS Latch / Flipflop</a:t>
            </a:r>
            <a:endParaRPr lang="ko-KR" altLang="en-US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7595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589179-B707-FC69-18A9-07B31627F27D}"/>
              </a:ext>
            </a:extLst>
          </p:cNvPr>
          <p:cNvSpPr txBox="1"/>
          <p:nvPr/>
        </p:nvSpPr>
        <p:spPr>
          <a:xfrm>
            <a:off x="1145658" y="554297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RS Latch</a:t>
            </a:r>
            <a:endParaRPr lang="en" altLang="ko-KR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7ADE40-7671-AA5A-5512-D8F3F6B6908A}"/>
              </a:ext>
            </a:extLst>
          </p:cNvPr>
          <p:cNvSpPr txBox="1"/>
          <p:nvPr/>
        </p:nvSpPr>
        <p:spPr>
          <a:xfrm>
            <a:off x="1309769" y="1341072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R(Reset), S(Set), Q, ~Q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로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구성된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" altLang="ko-KR" dirty="0">
                <a:solidFill>
                  <a:srgbClr val="000000"/>
                </a:solidFill>
                <a:latin typeface="Helvetica Neue" panose="02000503000000020004" pitchFamily="2" charset="0"/>
              </a:rPr>
              <a:t>Latch</a:t>
            </a:r>
            <a:endParaRPr lang="en-US" altLang="ko-KR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주로 </a:t>
            </a:r>
            <a:r>
              <a:rPr lang="en-US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NOR 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또는 </a:t>
            </a:r>
            <a:r>
              <a:rPr lang="en-US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NAND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게이트로 구성</a:t>
            </a:r>
            <a:endParaRPr lang="ko-KR" altLang="en-US" dirty="0">
              <a:solidFill>
                <a:srgbClr val="000000"/>
              </a:solidFill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11" name="그림 10" descr="도표, 스크린샷, 라인, 번호이(가) 표시된 사진&#10;&#10;자동 생성된 설명">
            <a:extLst>
              <a:ext uri="{FF2B5EF4-FFF2-40B4-BE49-F238E27FC236}">
                <a16:creationId xmlns:a16="http://schemas.microsoft.com/office/drawing/2014/main" id="{003A616B-8693-BA23-0BBC-95AAFC741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5094" y="1987403"/>
            <a:ext cx="3547137" cy="331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79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6B05E-E549-054D-DC3F-F8B09F1C2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951A6B-4116-7131-8093-55845BB3FEDD}"/>
              </a:ext>
            </a:extLst>
          </p:cNvPr>
          <p:cNvSpPr txBox="1"/>
          <p:nvPr/>
        </p:nvSpPr>
        <p:spPr>
          <a:xfrm>
            <a:off x="1145658" y="554297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RS Latch</a:t>
            </a:r>
            <a:endParaRPr lang="en" altLang="ko-KR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048015B-71C2-661E-DC81-88818A8C6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829" y="1365035"/>
            <a:ext cx="3393706" cy="390679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91AC027-ED8E-7B9E-CA61-D2DB1FA7F696}"/>
              </a:ext>
            </a:extLst>
          </p:cNvPr>
          <p:cNvSpPr txBox="1"/>
          <p:nvPr/>
        </p:nvSpPr>
        <p:spPr>
          <a:xfrm>
            <a:off x="954272" y="1365035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P = ( S + Q )’</a:t>
            </a:r>
          </a:p>
          <a:p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Q = ( R + P )’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6C9132-BF4D-851C-775D-EF05F75E475E}"/>
              </a:ext>
            </a:extLst>
          </p:cNvPr>
          <p:cNvSpPr txBox="1"/>
          <p:nvPr/>
        </p:nvSpPr>
        <p:spPr>
          <a:xfrm>
            <a:off x="635295" y="2285999"/>
            <a:ext cx="7530509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* S</a:t>
            </a:r>
            <a:r>
              <a:rPr lang="en-US" altLang="ko-KR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= 0, R = 0</a:t>
            </a:r>
            <a:endParaRPr lang="ko-KR" altLang="en-US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P = Q’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Q = P’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ko-KR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* S = 1, R = 0</a:t>
            </a:r>
            <a:endParaRPr lang="ko-KR" altLang="en-US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P = ( 1 + Q )’ = 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Q = ( 0 + P )’ =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ko-KR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* S = 0, R = 1</a:t>
            </a:r>
            <a:endParaRPr lang="ko-KR" altLang="en-US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P = ( 0 + Q )’ = 1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Q = ( 1 + P )’ =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" altLang="ko-KR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  <a:p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* S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=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1,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</a:t>
            </a:r>
            <a:r>
              <a:rPr lang="en-US" altLang="ko-KR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R = 1</a:t>
            </a:r>
            <a:endParaRPr lang="en-US" altLang="ko-KR" dirty="0">
              <a:solidFill>
                <a:srgbClr val="000000"/>
              </a:solidFill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Q = ( 1 + P )’ =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P = ( 1 + Q )’ = 0</a:t>
            </a:r>
          </a:p>
          <a:p>
            <a:r>
              <a:rPr lang="en" altLang="ko-KR" dirty="0">
                <a:solidFill>
                  <a:srgbClr val="000000"/>
                </a:solidFill>
                <a:latin typeface="Helvetica Neue" panose="02000503000000020004" pitchFamily="2" charset="0"/>
              </a:rPr>
              <a:t>//</a:t>
            </a:r>
            <a:r>
              <a:rPr lang="ko-KR" altLang="en-US" dirty="0">
                <a:solidFill>
                  <a:srgbClr val="000000"/>
                </a:solidFill>
                <a:latin typeface="Helvetica Neue" panose="02000503000000020004" pitchFamily="2" charset="0"/>
              </a:rPr>
              <a:t>동작하지 않는다</a:t>
            </a:r>
            <a:r>
              <a:rPr lang="en-US" altLang="ko-KR" dirty="0">
                <a:solidFill>
                  <a:srgbClr val="000000"/>
                </a:solidFill>
                <a:latin typeface="Helvetica Neue" panose="02000503000000020004" pitchFamily="2" charset="0"/>
              </a:rPr>
              <a:t>.</a:t>
            </a:r>
            <a:endParaRPr lang="en" altLang="ko-KR" dirty="0">
              <a:solidFill>
                <a:srgbClr val="000000"/>
              </a:solidFill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165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FF8324-2D72-6BFF-2D0A-F5E9920056F3}"/>
              </a:ext>
            </a:extLst>
          </p:cNvPr>
          <p:cNvSpPr txBox="1"/>
          <p:nvPr/>
        </p:nvSpPr>
        <p:spPr>
          <a:xfrm>
            <a:off x="752254" y="33101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RS </a:t>
            </a:r>
            <a:r>
              <a:rPr lang="en" altLang="ko-KR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FlipFlop</a:t>
            </a: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B97428-4035-8226-1329-5876D8E5F4EA}"/>
              </a:ext>
            </a:extLst>
          </p:cNvPr>
          <p:cNvSpPr txBox="1"/>
          <p:nvPr/>
        </p:nvSpPr>
        <p:spPr>
          <a:xfrm>
            <a:off x="614030" y="1223872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R(Reset), S(Set), Q, ~Q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로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구성된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en" altLang="ko-KR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FlipFlop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이다</a:t>
            </a:r>
            <a:r>
              <a:rPr lang="en-US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Edge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동안에만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입력이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출력에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영향을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미친다</a:t>
            </a:r>
            <a:r>
              <a:rPr lang="en-US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  <a:ea typeface="Apple SD Gothic Neo" panose="02000300000000000000" pitchFamily="2" charset="-127"/>
              </a:rPr>
              <a:t>. </a:t>
            </a:r>
            <a:endParaRPr lang="ko-KR" altLang="en-US" dirty="0">
              <a:solidFill>
                <a:srgbClr val="000000"/>
              </a:solidFill>
              <a:effectLst/>
              <a:latin typeface="Apple SD Gothic Neo" panose="02000300000000000000" pitchFamily="2" charset="-127"/>
              <a:ea typeface="Apple SD Gothic Neo" panose="02000300000000000000" pitchFamily="2" charset="-127"/>
            </a:endParaRPr>
          </a:p>
        </p:txBody>
      </p:sp>
      <p:pic>
        <p:nvPicPr>
          <p:cNvPr id="9" name="그림 8" descr="도표, 스케치, 라인, 기술 도면이(가) 표시된 사진&#10;&#10;자동 생성된 설명">
            <a:extLst>
              <a:ext uri="{FF2B5EF4-FFF2-40B4-BE49-F238E27FC236}">
                <a16:creationId xmlns:a16="http://schemas.microsoft.com/office/drawing/2014/main" id="{F9090099-3280-AFED-B8A2-A60A51060D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802" y="954985"/>
            <a:ext cx="3619500" cy="415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250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483BE-8B7C-EE0D-E0B0-C089C2704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1816E20-B786-BEE3-24B1-93DE94E1247B}"/>
              </a:ext>
            </a:extLst>
          </p:cNvPr>
          <p:cNvSpPr txBox="1"/>
          <p:nvPr/>
        </p:nvSpPr>
        <p:spPr>
          <a:xfrm>
            <a:off x="752254" y="33101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RS </a:t>
            </a:r>
            <a:r>
              <a:rPr lang="en" altLang="ko-KR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FlipFlop</a:t>
            </a: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D9549E5-9AFC-CC7F-FC42-B78B70E7B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357860"/>
            <a:ext cx="5808637" cy="332972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B419BD2-D301-78EC-AACB-770A21CA7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1357860"/>
            <a:ext cx="5448300" cy="288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513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BFBDE-9930-CA67-5BD3-E2BBF9257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DC15E5-DC1C-0195-F24B-E4F61E790435}"/>
              </a:ext>
            </a:extLst>
          </p:cNvPr>
          <p:cNvSpPr txBox="1"/>
          <p:nvPr/>
        </p:nvSpPr>
        <p:spPr>
          <a:xfrm>
            <a:off x="752254" y="331014"/>
            <a:ext cx="6097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RS </a:t>
            </a:r>
            <a:r>
              <a:rPr lang="en" altLang="ko-KR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FlipFlop</a:t>
            </a: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A8A49AD-7CDA-F172-80CE-E853FEBCC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0" y="1357860"/>
            <a:ext cx="5448300" cy="2888345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07D7A01A-556F-6376-03CD-449153138529}"/>
              </a:ext>
            </a:extLst>
          </p:cNvPr>
          <p:cNvGrpSpPr/>
          <p:nvPr/>
        </p:nvGrpSpPr>
        <p:grpSpPr>
          <a:xfrm>
            <a:off x="287363" y="1357860"/>
            <a:ext cx="5808637" cy="4541412"/>
            <a:chOff x="628650" y="1357860"/>
            <a:chExt cx="5808637" cy="4541412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F27B6767-33A3-1836-B8D2-824C1162C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8650" y="1357860"/>
              <a:ext cx="5808637" cy="3329725"/>
            </a:xfrm>
            <a:prstGeom prst="rect">
              <a:avLst/>
            </a:prstGeom>
          </p:spPr>
        </p:pic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3B107C22-407F-BE52-EE7B-82E8D5131457}"/>
                </a:ext>
              </a:extLst>
            </p:cNvPr>
            <p:cNvSpPr/>
            <p:nvPr/>
          </p:nvSpPr>
          <p:spPr>
            <a:xfrm>
              <a:off x="1956816" y="3035808"/>
              <a:ext cx="832104" cy="841247"/>
            </a:xfrm>
            <a:prstGeom prst="ellipse">
              <a:avLst/>
            </a:prstGeom>
            <a:solidFill>
              <a:srgbClr val="C00000">
                <a:alpha val="54189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924AC59C-1BE5-6118-5AAD-E35CD8211FF7}"/>
                </a:ext>
              </a:extLst>
            </p:cNvPr>
            <p:cNvSpPr/>
            <p:nvPr/>
          </p:nvSpPr>
          <p:spPr>
            <a:xfrm>
              <a:off x="4241029" y="3029276"/>
              <a:ext cx="832104" cy="841247"/>
            </a:xfrm>
            <a:prstGeom prst="ellipse">
              <a:avLst/>
            </a:prstGeom>
            <a:solidFill>
              <a:srgbClr val="C00000">
                <a:alpha val="54189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dirty="0"/>
            </a:p>
          </p:txBody>
        </p:sp>
        <p:cxnSp>
          <p:nvCxnSpPr>
            <p:cNvPr id="8" name="직선 화살표 연결선 7">
              <a:extLst>
                <a:ext uri="{FF2B5EF4-FFF2-40B4-BE49-F238E27FC236}">
                  <a16:creationId xmlns:a16="http://schemas.microsoft.com/office/drawing/2014/main" id="{A7E6FC00-C477-82D7-61FA-74FA40796A77}"/>
                </a:ext>
              </a:extLst>
            </p:cNvPr>
            <p:cNvCxnSpPr>
              <a:stCxn id="5" idx="4"/>
            </p:cNvCxnSpPr>
            <p:nvPr/>
          </p:nvCxnSpPr>
          <p:spPr>
            <a:xfrm>
              <a:off x="2372868" y="3877055"/>
              <a:ext cx="1160100" cy="1609345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화살표 연결선 8">
              <a:extLst>
                <a:ext uri="{FF2B5EF4-FFF2-40B4-BE49-F238E27FC236}">
                  <a16:creationId xmlns:a16="http://schemas.microsoft.com/office/drawing/2014/main" id="{80E2E613-7509-A614-ACEC-7078F269AF0E}"/>
                </a:ext>
              </a:extLst>
            </p:cNvPr>
            <p:cNvCxnSpPr>
              <a:cxnSpLocks/>
              <a:stCxn id="6" idx="4"/>
            </p:cNvCxnSpPr>
            <p:nvPr/>
          </p:nvCxnSpPr>
          <p:spPr>
            <a:xfrm flipH="1">
              <a:off x="3755223" y="3870523"/>
              <a:ext cx="901858" cy="1629617"/>
            </a:xfrm>
            <a:prstGeom prst="straightConnector1">
              <a:avLst/>
            </a:prstGeom>
            <a:ln w="57150">
              <a:solidFill>
                <a:srgbClr val="C0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1C5E55C-7D71-2748-59CA-1419F0690410}"/>
                </a:ext>
              </a:extLst>
            </p:cNvPr>
            <p:cNvSpPr txBox="1"/>
            <p:nvPr/>
          </p:nvSpPr>
          <p:spPr>
            <a:xfrm>
              <a:off x="3113312" y="5529940"/>
              <a:ext cx="12409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ko-KR" altLang="en-US" dirty="0">
                  <a:ln>
                    <a:solidFill>
                      <a:srgbClr val="C00000"/>
                    </a:solidFill>
                  </a:ln>
                  <a:solidFill>
                    <a:sysClr val="windowText" lastClr="000000"/>
                  </a:solidFill>
                </a:rPr>
                <a:t>현재 상태</a:t>
              </a:r>
            </a:p>
          </p:txBody>
        </p:sp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9E2C4587-A6F2-5032-F723-B84D18C068DB}"/>
                </a:ext>
              </a:extLst>
            </p:cNvPr>
            <p:cNvSpPr/>
            <p:nvPr/>
          </p:nvSpPr>
          <p:spPr>
            <a:xfrm>
              <a:off x="3276601" y="2525485"/>
              <a:ext cx="500394" cy="348343"/>
            </a:xfrm>
            <a:prstGeom prst="roundRect">
              <a:avLst/>
            </a:prstGeom>
            <a:solidFill>
              <a:srgbClr val="FFC000">
                <a:alpha val="6189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4" name="모서리가 둥근 직사각형 13">
              <a:extLst>
                <a:ext uri="{FF2B5EF4-FFF2-40B4-BE49-F238E27FC236}">
                  <a16:creationId xmlns:a16="http://schemas.microsoft.com/office/drawing/2014/main" id="{B28CE0AC-F019-64BB-A298-91A529D8C742}"/>
                </a:ext>
              </a:extLst>
            </p:cNvPr>
            <p:cNvSpPr/>
            <p:nvPr/>
          </p:nvSpPr>
          <p:spPr>
            <a:xfrm>
              <a:off x="3276601" y="4050261"/>
              <a:ext cx="500394" cy="348343"/>
            </a:xfrm>
            <a:prstGeom prst="roundRect">
              <a:avLst/>
            </a:prstGeom>
            <a:solidFill>
              <a:srgbClr val="FFC000">
                <a:alpha val="6189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5" name="모서리가 둥근 직사각형 14">
              <a:extLst>
                <a:ext uri="{FF2B5EF4-FFF2-40B4-BE49-F238E27FC236}">
                  <a16:creationId xmlns:a16="http://schemas.microsoft.com/office/drawing/2014/main" id="{D057F443-81D3-FB74-4EA3-087A8C1A272C}"/>
                </a:ext>
              </a:extLst>
            </p:cNvPr>
            <p:cNvSpPr/>
            <p:nvPr/>
          </p:nvSpPr>
          <p:spPr>
            <a:xfrm>
              <a:off x="5606492" y="3095120"/>
              <a:ext cx="500394" cy="348343"/>
            </a:xfrm>
            <a:prstGeom prst="roundRect">
              <a:avLst/>
            </a:prstGeom>
            <a:solidFill>
              <a:srgbClr val="FFC000">
                <a:alpha val="6189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6" name="모서리가 둥근 직사각형 15">
              <a:extLst>
                <a:ext uri="{FF2B5EF4-FFF2-40B4-BE49-F238E27FC236}">
                  <a16:creationId xmlns:a16="http://schemas.microsoft.com/office/drawing/2014/main" id="{ED4F8592-E86D-9960-C657-B0F0E939F190}"/>
                </a:ext>
              </a:extLst>
            </p:cNvPr>
            <p:cNvSpPr/>
            <p:nvPr/>
          </p:nvSpPr>
          <p:spPr>
            <a:xfrm>
              <a:off x="5613019" y="3494527"/>
              <a:ext cx="500394" cy="348343"/>
            </a:xfrm>
            <a:prstGeom prst="roundRect">
              <a:avLst/>
            </a:prstGeom>
            <a:solidFill>
              <a:srgbClr val="FFC000">
                <a:alpha val="6189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7" name="모서리가 둥근 직사각형 16">
              <a:extLst>
                <a:ext uri="{FF2B5EF4-FFF2-40B4-BE49-F238E27FC236}">
                  <a16:creationId xmlns:a16="http://schemas.microsoft.com/office/drawing/2014/main" id="{855E71FB-44D0-9E1B-A1E7-E505DE145108}"/>
                </a:ext>
              </a:extLst>
            </p:cNvPr>
            <p:cNvSpPr/>
            <p:nvPr/>
          </p:nvSpPr>
          <p:spPr>
            <a:xfrm>
              <a:off x="916536" y="3091446"/>
              <a:ext cx="500394" cy="348343"/>
            </a:xfrm>
            <a:prstGeom prst="roundRect">
              <a:avLst/>
            </a:prstGeom>
            <a:solidFill>
              <a:srgbClr val="FFC000">
                <a:alpha val="6189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8" name="모서리가 둥근 직사각형 17">
              <a:extLst>
                <a:ext uri="{FF2B5EF4-FFF2-40B4-BE49-F238E27FC236}">
                  <a16:creationId xmlns:a16="http://schemas.microsoft.com/office/drawing/2014/main" id="{3A8EB91D-902D-EDFA-16DE-67C99A2482CB}"/>
                </a:ext>
              </a:extLst>
            </p:cNvPr>
            <p:cNvSpPr/>
            <p:nvPr/>
          </p:nvSpPr>
          <p:spPr>
            <a:xfrm>
              <a:off x="916536" y="3468092"/>
              <a:ext cx="500394" cy="348343"/>
            </a:xfrm>
            <a:prstGeom prst="roundRect">
              <a:avLst/>
            </a:prstGeom>
            <a:solidFill>
              <a:srgbClr val="FFC000">
                <a:alpha val="61897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FAB11F1C-B722-611B-A8EE-1316B512B8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4657" y="3765371"/>
              <a:ext cx="272676" cy="1694594"/>
            </a:xfrm>
            <a:prstGeom prst="straightConnector1">
              <a:avLst/>
            </a:prstGeom>
            <a:ln w="57150">
              <a:solidFill>
                <a:srgbClr val="D378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D0480DC4-6E9E-7C02-F8B3-8D7D6296653C}"/>
                </a:ext>
              </a:extLst>
            </p:cNvPr>
            <p:cNvCxnSpPr>
              <a:cxnSpLocks/>
            </p:cNvCxnSpPr>
            <p:nvPr/>
          </p:nvCxnSpPr>
          <p:spPr>
            <a:xfrm>
              <a:off x="5957518" y="3765371"/>
              <a:ext cx="155895" cy="1694594"/>
            </a:xfrm>
            <a:prstGeom prst="straightConnector1">
              <a:avLst/>
            </a:prstGeom>
            <a:ln w="57150">
              <a:solidFill>
                <a:srgbClr val="D378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07C20DC3-9D38-A4ED-7360-18CCE24E6C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84657" y="3816435"/>
              <a:ext cx="256724" cy="1643530"/>
            </a:xfrm>
            <a:prstGeom prst="straightConnector1">
              <a:avLst/>
            </a:prstGeom>
            <a:ln w="57150">
              <a:solidFill>
                <a:srgbClr val="D378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B902BF8-7297-7AB0-50D8-E360348537C0}"/>
                </a:ext>
              </a:extLst>
            </p:cNvPr>
            <p:cNvSpPr txBox="1"/>
            <p:nvPr/>
          </p:nvSpPr>
          <p:spPr>
            <a:xfrm>
              <a:off x="5249857" y="5411136"/>
              <a:ext cx="3877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dirty="0">
                  <a:ln>
                    <a:solidFill>
                      <a:srgbClr val="C00000"/>
                    </a:solidFill>
                  </a:ln>
                  <a:solidFill>
                    <a:srgbClr val="D37800"/>
                  </a:solidFill>
                </a:rPr>
                <a:t>S</a:t>
              </a:r>
              <a:endParaRPr kumimoji="1" lang="ko-KR" altLang="en-US" sz="2400" dirty="0">
                <a:ln>
                  <a:solidFill>
                    <a:srgbClr val="C00000"/>
                  </a:solidFill>
                </a:ln>
                <a:solidFill>
                  <a:srgbClr val="D37800"/>
                </a:solidFill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37FC06B4-3920-FCDA-B0FA-69EAFA35D70D}"/>
                </a:ext>
              </a:extLst>
            </p:cNvPr>
            <p:cNvSpPr txBox="1"/>
            <p:nvPr/>
          </p:nvSpPr>
          <p:spPr>
            <a:xfrm>
              <a:off x="5975978" y="5411136"/>
              <a:ext cx="3877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ko-KR" sz="2400" dirty="0">
                  <a:ln>
                    <a:solidFill>
                      <a:srgbClr val="C00000"/>
                    </a:solidFill>
                  </a:ln>
                  <a:solidFill>
                    <a:srgbClr val="D37800"/>
                  </a:solidFill>
                </a:rPr>
                <a:t>R</a:t>
              </a:r>
              <a:endParaRPr kumimoji="1" lang="ko-KR" altLang="en-US" sz="2400" dirty="0">
                <a:ln>
                  <a:solidFill>
                    <a:srgbClr val="C00000"/>
                  </a:solidFill>
                </a:ln>
                <a:solidFill>
                  <a:srgbClr val="D37800"/>
                </a:solidFill>
              </a:endParaRP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3E29B61-FF88-5A75-6446-E4EC120AFC79}"/>
              </a:ext>
            </a:extLst>
          </p:cNvPr>
          <p:cNvSpPr txBox="1"/>
          <p:nvPr/>
        </p:nvSpPr>
        <p:spPr>
          <a:xfrm>
            <a:off x="575249" y="6060020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Reset :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데이터를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‘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끄는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’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상태</a:t>
            </a:r>
            <a:r>
              <a:rPr lang="en-US" altLang="ko-KR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(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데이터를 </a:t>
            </a:r>
            <a:r>
              <a:rPr lang="en-US" altLang="ko-KR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0</a:t>
            </a:r>
            <a:r>
              <a:rPr lang="ko-KR" altLang="en-US" dirty="0" err="1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으로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 만든다</a:t>
            </a:r>
            <a:r>
              <a:rPr lang="en-US" altLang="ko-KR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 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Set :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데이터를</a:t>
            </a:r>
            <a:r>
              <a:rPr lang="ko-KR" altLang="en-US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‘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켜는</a:t>
            </a:r>
            <a:r>
              <a:rPr lang="en-US" altLang="ko-KR" dirty="0">
                <a:solidFill>
                  <a:srgbClr val="000000"/>
                </a:solidFill>
                <a:latin typeface="Helvetica Neue" panose="02000503000000020004" pitchFamily="2" charset="0"/>
                <a:ea typeface="Apple SD Gothic Neo" panose="02000300000000000000" pitchFamily="2" charset="-127"/>
              </a:rPr>
              <a:t>’</a:t>
            </a:r>
            <a:r>
              <a:rPr lang="en-US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 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상태 </a:t>
            </a:r>
            <a:r>
              <a:rPr lang="en-US" altLang="ko-KR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(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데이터를 </a:t>
            </a:r>
            <a:r>
              <a:rPr lang="en-US" altLang="ko-KR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1</a:t>
            </a:r>
            <a:r>
              <a:rPr lang="ko-KR" altLang="en-US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로 만든다</a:t>
            </a:r>
            <a:r>
              <a:rPr lang="en-US" altLang="ko-KR" dirty="0">
                <a:solidFill>
                  <a:srgbClr val="000000"/>
                </a:solidFill>
                <a:effectLst/>
                <a:latin typeface="Apple SD Gothic Neo" panose="02000300000000000000" pitchFamily="2" charset="-127"/>
                <a:ea typeface="Apple SD Gothic Neo" panose="02000300000000000000" pitchFamily="2" charset="-127"/>
              </a:rPr>
              <a:t>)</a:t>
            </a:r>
            <a:endParaRPr lang="ko-KR" altLang="en-US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00341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9C3642A-493F-66D2-C09E-370D6B4761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70050"/>
            <a:ext cx="5486400" cy="4775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AD8E6DA-42D2-BE6E-9B77-AC37D12B5013}"/>
              </a:ext>
            </a:extLst>
          </p:cNvPr>
          <p:cNvSpPr txBox="1"/>
          <p:nvPr/>
        </p:nvSpPr>
        <p:spPr>
          <a:xfrm>
            <a:off x="1104623" y="1041400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q* = S + </a:t>
            </a:r>
            <a:r>
              <a:rPr lang="en" altLang="ko-KR" dirty="0" err="1">
                <a:solidFill>
                  <a:srgbClr val="000000"/>
                </a:solidFill>
                <a:effectLst/>
                <a:latin typeface="Helvetica Neue" panose="02000503000000020004" pitchFamily="2" charset="0"/>
              </a:rPr>
              <a:t>R’q</a:t>
            </a:r>
            <a:endParaRPr lang="en" altLang="ko-KR" dirty="0">
              <a:solidFill>
                <a:srgbClr val="000000"/>
              </a:solidFill>
              <a:effectLst/>
              <a:latin typeface="Helvetica Neue" panose="02000503000000020004" pitchFamily="2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513A94-F860-1D6C-6702-B3526E89B7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1357860"/>
            <a:ext cx="5448300" cy="2888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927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1615</TotalTime>
  <Words>345</Words>
  <Application>Microsoft Macintosh PowerPoint</Application>
  <PresentationFormat>와이드스크린</PresentationFormat>
  <Paragraphs>58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Apple SD Gothic Neo</vt:lpstr>
      <vt:lpstr>Arial</vt:lpstr>
      <vt:lpstr>Helvetica Neue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강유영</dc:creator>
  <cp:lastModifiedBy>강유영</cp:lastModifiedBy>
  <cp:revision>2</cp:revision>
  <dcterms:created xsi:type="dcterms:W3CDTF">2024-11-14T03:02:28Z</dcterms:created>
  <dcterms:modified xsi:type="dcterms:W3CDTF">2024-11-15T05:57:38Z</dcterms:modified>
</cp:coreProperties>
</file>